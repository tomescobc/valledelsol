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A2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34D399"/>
                </a:solidFill>
                <a:latin typeface="Segoe UI"/>
              </a:rPr>
              <a:t>🌲  Valle del Sol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Integración de Arquitectura de Microservicios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918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Subdirección de Gestión de Emergencias · Plataforma de reporte ciudadano y alertas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114800"/>
            <a:ext cx="5852160" cy="1554480"/>
          </a:xfrm>
          <a:prstGeom prst="roundRect">
            <a:avLst/>
          </a:prstGeom>
          <a:solidFill>
            <a:srgbClr val="0F1B1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Evaluación Parcial 3 — DSY1106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Desarrollo Fullstack III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Docente: Israel Villagra Riquelme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Integrantes: Matías Ampuero · Tomás Escobar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29 de junio de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4114800"/>
            <a:ext cx="4572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DE047"/>
                </a:solidFill>
                <a:latin typeface="Segoe UI"/>
              </a:rPr>
              <a:t>Foco de la presentación: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Pruebas unitarias, de integración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y end-to-end sobre el business core,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con persistencia e integración real.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EL CASO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El problema a resolver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Municipalidad Valle del Sol, Región San Jorge — extensas áreas forestales y viviendas rurales.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5577840" cy="3840480"/>
          </a:xfrm>
          <a:prstGeom prst="roundRect">
            <a:avLst/>
          </a:prstGeom>
          <a:solidFill>
            <a:srgbClr val="0F1B14"/>
          </a:solidFill>
          <a:ln w="1587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CA5A5"/>
                </a:solidFill>
                <a:latin typeface="Segoe UI"/>
              </a:rPr>
              <a:t>Dolores detectados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500">
                <a:solidFill>
                  <a:srgbClr val="E2E8F0"/>
                </a:solidFill>
                <a:latin typeface="Segoe UI"/>
              </a:rPr>
              <a:t>Detección tardía: 35 min promedio hasta el reporte.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500">
                <a:solidFill>
                  <a:srgbClr val="E2E8F0"/>
                </a:solidFill>
                <a:latin typeface="Segoe UI"/>
              </a:rPr>
              <a:t>Solo el 22% de los reportes provienen de vecinos.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500">
                <a:solidFill>
                  <a:srgbClr val="E2E8F0"/>
                </a:solidFill>
                <a:latin typeface="Segoe UI"/>
              </a:rPr>
              <a:t>Coordinación informal y registros en papel (sin GIS).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500">
                <a:solidFill>
                  <a:srgbClr val="E2E8F0"/>
                </a:solidFill>
                <a:latin typeface="Segoe UI"/>
              </a:rPr>
              <a:t>73% de la comunidad: las alertas llegan tarde.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377440"/>
            <a:ext cx="5212080" cy="3840480"/>
          </a:xfrm>
          <a:prstGeom prst="roundRect">
            <a:avLst/>
          </a:prstGeom>
          <a:solidFill>
            <a:srgbClr val="0F1B1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560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Oportunidad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10896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✓  </a:t>
            </a:r>
            <a:r>
              <a:rPr sz="1500">
                <a:solidFill>
                  <a:srgbClr val="E2E8F0"/>
                </a:solidFill>
                <a:latin typeface="Segoe UI"/>
              </a:rPr>
              <a:t>Reducir 15 min la detección → −40% superficie afectada.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✓  </a:t>
            </a:r>
            <a:r>
              <a:rPr sz="1500">
                <a:solidFill>
                  <a:srgbClr val="E2E8F0"/>
                </a:solidFill>
                <a:latin typeface="Segoe UI"/>
              </a:rPr>
              <a:t>Pasar de respuesta reactiva a prevención proactiva.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✓  </a:t>
            </a:r>
            <a:r>
              <a:rPr sz="1500">
                <a:solidFill>
                  <a:srgbClr val="E2E8F0"/>
                </a:solidFill>
                <a:latin typeface="Segoe UI"/>
              </a:rPr>
              <a:t>Reporte ciudadano con geolocalización.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✓  </a:t>
            </a:r>
            <a:r>
              <a:rPr sz="1500">
                <a:solidFill>
                  <a:srgbClr val="E2E8F0"/>
                </a:solidFill>
                <a:latin typeface="Segoe UI"/>
              </a:rPr>
              <a:t>Motor de alertas masivas a la comunidad.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008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Valle del Sol · EP3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Arquitectura de microservicios</a:t>
            </a:r>
          </a:p>
        </p:txBody>
      </p:sp>
      <p:pic>
        <p:nvPicPr>
          <p:cNvPr id="4" name="Picture 3" descr="arquitectura-microservic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680960" cy="503463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554480"/>
            <a:ext cx="3154680" cy="4663440"/>
          </a:xfrm>
          <a:prstGeom prst="roundRect">
            <a:avLst/>
          </a:prstGeom>
          <a:solidFill>
            <a:srgbClr val="0F1B1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17373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Segoe UI"/>
              </a:rPr>
              <a:t>Componentes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2286000"/>
            <a:ext cx="2743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300">
                <a:solidFill>
                  <a:srgbClr val="E2E8F0"/>
                </a:solidFill>
                <a:latin typeface="Segoe UI"/>
              </a:rPr>
              <a:t>Frontend Angular (NPM)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300">
                <a:solidFill>
                  <a:srgbClr val="E2E8F0"/>
                </a:solidFill>
                <a:latin typeface="Segoe UI"/>
              </a:rPr>
              <a:t>BFF (orquesta + agrega)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300">
                <a:solidFill>
                  <a:srgbClr val="E2E8F0"/>
                </a:solidFill>
                <a:latin typeface="Segoe UI"/>
              </a:rPr>
              <a:t>ms-reportes-ciudadano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300">
                <a:solidFill>
                  <a:srgbClr val="E2E8F0"/>
                </a:solidFill>
                <a:latin typeface="Segoe UI"/>
              </a:rPr>
              <a:t>ms-alertas-comunidad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300">
                <a:solidFill>
                  <a:srgbClr val="E2E8F0"/>
                </a:solidFill>
                <a:latin typeface="Segoe UI"/>
              </a:rPr>
              <a:t>PostgreSQL (Docker)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→  </a:t>
            </a:r>
            <a:r>
              <a:rPr sz="1300">
                <a:solidFill>
                  <a:srgbClr val="E2E8F0"/>
                </a:solidFill>
                <a:latin typeface="Segoe UI"/>
              </a:rPr>
              <a:t>REST/JSON entre todos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→  </a:t>
            </a:r>
            <a:r>
              <a:rPr sz="1300">
                <a:solidFill>
                  <a:srgbClr val="E2E8F0"/>
                </a:solidFill>
                <a:latin typeface="Segoe UI"/>
              </a:rPr>
              <a:t>JPA para persistencia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008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Valle del Sol · EP3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BUSINESS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Flujo de negocio crítico</a:t>
            </a:r>
          </a:p>
        </p:txBody>
      </p:sp>
      <p:pic>
        <p:nvPicPr>
          <p:cNvPr id="4" name="Picture 3" descr="flujo-business-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594" y="1508760"/>
            <a:ext cx="817062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Reporte CRÍTICO (ALTA/CRÍTICA)  →  se persiste  →  el BFF genera automáticamente una alerta de EVACUACIÓN.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008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Valle del Sol · EP3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EP3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Integración y persistencia logradas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611880" cy="4023360"/>
          </a:xfrm>
          <a:prstGeom prst="roundRect">
            <a:avLst/>
          </a:prstGeom>
          <a:solidFill>
            <a:srgbClr val="0F1B1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🔗 Integración 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400">
                <a:solidFill>
                  <a:srgbClr val="E2E8F0"/>
                </a:solidFill>
                <a:latin typeface="Segoe UI"/>
              </a:rPr>
              <a:t>Frontend → BFF → microservicios.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400">
                <a:solidFill>
                  <a:srgbClr val="E2E8F0"/>
                </a:solidFill>
                <a:latin typeface="Segoe UI"/>
              </a:rPr>
              <a:t>El BFF orquesta y agrega.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400">
                <a:solidFill>
                  <a:srgbClr val="E2E8F0"/>
                </a:solidFill>
                <a:latin typeface="Segoe UI"/>
              </a:rPr>
              <a:t>CORS habilitado para el front.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611880" cy="4023360"/>
          </a:xfrm>
          <a:prstGeom prst="roundRect">
            <a:avLst/>
          </a:prstGeom>
          <a:solidFill>
            <a:srgbClr val="0F1B1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🗄️ Persistencia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400">
                <a:solidFill>
                  <a:srgbClr val="E2E8F0"/>
                </a:solidFill>
                <a:latin typeface="Segoe UI"/>
              </a:rPr>
              <a:t>PostgreSQL 15 en Docker.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400">
                <a:solidFill>
                  <a:srgbClr val="E2E8F0"/>
                </a:solidFill>
                <a:latin typeface="Segoe UI"/>
              </a:rPr>
              <a:t>JPA/Hibernate en cada MS.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400">
                <a:solidFill>
                  <a:srgbClr val="E2E8F0"/>
                </a:solidFill>
                <a:latin typeface="Segoe UI"/>
              </a:rPr>
              <a:t>Tablas reportes y alertas.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611880" cy="4023360"/>
          </a:xfrm>
          <a:prstGeom prst="roundRect">
            <a:avLst/>
          </a:prstGeom>
          <a:solidFill>
            <a:srgbClr val="0F1B1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0116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🧩 Componentes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74320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400">
                <a:solidFill>
                  <a:srgbClr val="E2E8F0"/>
                </a:solidFill>
                <a:latin typeface="Segoe UI"/>
              </a:rPr>
              <a:t>Angular 21 (NPM).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400">
                <a:solidFill>
                  <a:srgbClr val="E2E8F0"/>
                </a:solidFill>
                <a:latin typeface="Segoe UI"/>
              </a:rPr>
              <a:t>3 servicios Spring Boot.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400">
                <a:solidFill>
                  <a:srgbClr val="E2E8F0"/>
                </a:solidFill>
                <a:latin typeface="Segoe UI"/>
              </a:rPr>
              <a:t>Arquetipos Maven, GitHub.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008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Valle del Sol · EP3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PRUEBAS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Estrategia: pirámide de pruebas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1064240" cy="960120"/>
          </a:xfrm>
          <a:prstGeom prst="roundRect">
            <a:avLst/>
          </a:prstGeom>
          <a:solidFill>
            <a:srgbClr val="0F1B1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Unitarias (17)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938528"/>
            <a:ext cx="4206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Reglas de negocio aisladas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938528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JUnit 5 · Mockito · AssertJ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07791"/>
            <a:ext cx="11064240" cy="960120"/>
          </a:xfrm>
          <a:prstGeom prst="roundRect">
            <a:avLst/>
          </a:prstGeom>
          <a:solidFill>
            <a:srgbClr val="0F1B14"/>
          </a:solidFill>
          <a:ln w="1587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60A5FA"/>
                </a:solidFill>
                <a:latin typeface="Segoe UI"/>
              </a:rPr>
              <a:t>Integración (8)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017520"/>
            <a:ext cx="4206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REST → Servicio → Repositorio → BD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017520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Spring Boot Test · MockMvc · H2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86783"/>
            <a:ext cx="11064240" cy="960120"/>
          </a:xfrm>
          <a:prstGeom prst="roundRect">
            <a:avLst/>
          </a:prstGeom>
          <a:solidFill>
            <a:srgbClr val="0F1B14"/>
          </a:solidFill>
          <a:ln w="15875">
            <a:solidFill>
              <a:srgbClr val="FDE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96511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DE047"/>
                </a:solidFill>
                <a:latin typeface="Segoe UI"/>
              </a:rPr>
              <a:t>End-to-End (2)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096511"/>
            <a:ext cx="4206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Flujo completo a través del BFF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096511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MockRestServiceServer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65775"/>
            <a:ext cx="11064240" cy="960120"/>
          </a:xfrm>
          <a:prstGeom prst="roundRect">
            <a:avLst/>
          </a:prstGeom>
          <a:solidFill>
            <a:srgbClr val="0F1B14"/>
          </a:solidFill>
          <a:ln w="1587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75503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CA5A5"/>
                </a:solidFill>
                <a:latin typeface="Segoe UI"/>
              </a:rPr>
              <a:t>E2E manual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175503"/>
            <a:ext cx="4206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Sistema real en ejecución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175503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curl · Scripts/prueba-e2e.sh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Cobertura medida con JaCoCo (unitarias + integración/e2e combinadas).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008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Valle del Sol · EP3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Resultados de las pruebas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383280" cy="1463040"/>
          </a:xfrm>
          <a:prstGeom prst="roundRect">
            <a:avLst/>
          </a:prstGeom>
          <a:solidFill>
            <a:srgbClr val="0F1B1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3383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34D399"/>
                </a:solidFill>
                <a:latin typeface="Segoe UI"/>
              </a:rPr>
              <a:t>27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pruebas en verde (0 fallidas)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737360"/>
            <a:ext cx="3383280" cy="1463040"/>
          </a:xfrm>
          <a:prstGeom prst="roundRect">
            <a:avLst/>
          </a:prstGeom>
          <a:solidFill>
            <a:srgbClr val="0F1B1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874519"/>
            <a:ext cx="3383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34D399"/>
                </a:solidFill>
                <a:latin typeface="Segoe UI"/>
              </a:rPr>
              <a:t>17 · 8 · 2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unitarias · integración · e2e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737360"/>
            <a:ext cx="3931920" cy="1463040"/>
          </a:xfrm>
          <a:prstGeom prst="roundRect">
            <a:avLst/>
          </a:prstGeom>
          <a:solidFill>
            <a:srgbClr val="0F1B1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874519"/>
            <a:ext cx="3931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34D399"/>
                </a:solidFill>
                <a:latin typeface="Segoe UI"/>
              </a:rPr>
              <a:t>✔ Persistencia real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verificada en PostgreSQL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3931920" cy="566928"/>
          </a:xfrm>
          <a:prstGeom prst="roundRect">
            <a:avLst/>
          </a:prstGeom>
          <a:solidFill>
            <a:srgbClr val="102A1F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12463"/>
            <a:ext cx="3931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Microservicio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3657600"/>
            <a:ext cx="1005840" cy="566928"/>
          </a:xfrm>
          <a:prstGeom prst="roundRect">
            <a:avLst/>
          </a:prstGeom>
          <a:solidFill>
            <a:srgbClr val="102A1F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3712463"/>
            <a:ext cx="10058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Unit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3657600"/>
            <a:ext cx="1188720" cy="566928"/>
          </a:xfrm>
          <a:prstGeom prst="roundRect">
            <a:avLst/>
          </a:prstGeom>
          <a:solidFill>
            <a:srgbClr val="102A1F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3712463"/>
            <a:ext cx="1188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Integr.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657600"/>
            <a:ext cx="914400" cy="566928"/>
          </a:xfrm>
          <a:prstGeom prst="roundRect">
            <a:avLst/>
          </a:prstGeom>
          <a:solidFill>
            <a:srgbClr val="102A1F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712463"/>
            <a:ext cx="914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E2E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3657600"/>
            <a:ext cx="2011680" cy="566928"/>
          </a:xfrm>
          <a:prstGeom prst="roundRect">
            <a:avLst/>
          </a:prstGeom>
          <a:solidFill>
            <a:srgbClr val="102A1F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3712463"/>
            <a:ext cx="2011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Cob. instr.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3657600"/>
            <a:ext cx="2011680" cy="566928"/>
          </a:xfrm>
          <a:prstGeom prst="roundRect">
            <a:avLst/>
          </a:prstGeom>
          <a:solidFill>
            <a:srgbClr val="102A1F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3712463"/>
            <a:ext cx="2011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Cob. ramas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3931920" cy="566928"/>
          </a:xfrm>
          <a:prstGeom prst="roundRect">
            <a:avLst/>
          </a:prstGeom>
          <a:solidFill>
            <a:srgbClr val="0F1B14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79392"/>
            <a:ext cx="3931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ms-reportes-ciudadano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4224528"/>
            <a:ext cx="1005840" cy="566928"/>
          </a:xfrm>
          <a:prstGeom prst="roundRect">
            <a:avLst/>
          </a:prstGeom>
          <a:solidFill>
            <a:srgbClr val="0F1B14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279392"/>
            <a:ext cx="10058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4224528"/>
            <a:ext cx="1188720" cy="566928"/>
          </a:xfrm>
          <a:prstGeom prst="roundRect">
            <a:avLst/>
          </a:prstGeom>
          <a:solidFill>
            <a:srgbClr val="0F1B14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4279392"/>
            <a:ext cx="1188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4224528"/>
            <a:ext cx="914400" cy="566928"/>
          </a:xfrm>
          <a:prstGeom prst="roundRect">
            <a:avLst/>
          </a:prstGeom>
          <a:solidFill>
            <a:srgbClr val="0F1B14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279392"/>
            <a:ext cx="914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4224528"/>
            <a:ext cx="2011680" cy="566928"/>
          </a:xfrm>
          <a:prstGeom prst="roundRect">
            <a:avLst/>
          </a:prstGeom>
          <a:solidFill>
            <a:srgbClr val="0F1B14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4279392"/>
            <a:ext cx="2011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73,9%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4224528"/>
            <a:ext cx="2011680" cy="566928"/>
          </a:xfrm>
          <a:prstGeom prst="roundRect">
            <a:avLst/>
          </a:prstGeom>
          <a:solidFill>
            <a:srgbClr val="0F1B14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0" y="4279392"/>
            <a:ext cx="2011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63,6%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91456"/>
            <a:ext cx="3931920" cy="566928"/>
          </a:xfrm>
          <a:prstGeom prst="roundRect">
            <a:avLst/>
          </a:prstGeom>
          <a:solidFill>
            <a:srgbClr val="0F1B14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846320"/>
            <a:ext cx="3931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ms-alertas-comunidad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59" y="4791456"/>
            <a:ext cx="1005840" cy="566928"/>
          </a:xfrm>
          <a:prstGeom prst="roundRect">
            <a:avLst/>
          </a:prstGeom>
          <a:solidFill>
            <a:srgbClr val="0F1B14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59" y="4846320"/>
            <a:ext cx="10058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0" y="4791456"/>
            <a:ext cx="1188720" cy="566928"/>
          </a:xfrm>
          <a:prstGeom prst="roundRect">
            <a:avLst/>
          </a:prstGeom>
          <a:solidFill>
            <a:srgbClr val="0F1B14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0" y="4846320"/>
            <a:ext cx="1188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0" y="4791456"/>
            <a:ext cx="914400" cy="566928"/>
          </a:xfrm>
          <a:prstGeom prst="roundRect">
            <a:avLst/>
          </a:prstGeom>
          <a:solidFill>
            <a:srgbClr val="0F1B14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4846320"/>
            <a:ext cx="914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0" y="4791456"/>
            <a:ext cx="2011680" cy="566928"/>
          </a:xfrm>
          <a:prstGeom prst="roundRect">
            <a:avLst/>
          </a:prstGeom>
          <a:solidFill>
            <a:srgbClr val="0F1B14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0" y="4846320"/>
            <a:ext cx="2011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79,0%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01200" y="4791456"/>
            <a:ext cx="2011680" cy="566928"/>
          </a:xfrm>
          <a:prstGeom prst="roundRect">
            <a:avLst/>
          </a:prstGeom>
          <a:solidFill>
            <a:srgbClr val="0F1B14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0" y="4846320"/>
            <a:ext cx="2011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68,0%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358384"/>
            <a:ext cx="3931920" cy="566928"/>
          </a:xfrm>
          <a:prstGeom prst="roundRect">
            <a:avLst/>
          </a:prstGeom>
          <a:solidFill>
            <a:srgbClr val="0F1B14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413248"/>
            <a:ext cx="3931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bff-valle-sol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80559" y="5358384"/>
            <a:ext cx="1005840" cy="566928"/>
          </a:xfrm>
          <a:prstGeom prst="roundRect">
            <a:avLst/>
          </a:prstGeom>
          <a:solidFill>
            <a:srgbClr val="0F1B14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59" y="5413248"/>
            <a:ext cx="10058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0" y="5358384"/>
            <a:ext cx="1188720" cy="566928"/>
          </a:xfrm>
          <a:prstGeom prst="roundRect">
            <a:avLst/>
          </a:prstGeom>
          <a:solidFill>
            <a:srgbClr val="0F1B14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5413248"/>
            <a:ext cx="1188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—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75120" y="5358384"/>
            <a:ext cx="914400" cy="566928"/>
          </a:xfrm>
          <a:prstGeom prst="roundRect">
            <a:avLst/>
          </a:prstGeom>
          <a:solidFill>
            <a:srgbClr val="0F1B14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5413248"/>
            <a:ext cx="914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89520" y="5358384"/>
            <a:ext cx="2011680" cy="566928"/>
          </a:xfrm>
          <a:prstGeom prst="roundRect">
            <a:avLst/>
          </a:prstGeom>
          <a:solidFill>
            <a:srgbClr val="0F1B14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89520" y="5413248"/>
            <a:ext cx="2011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68,8%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01200" y="5358384"/>
            <a:ext cx="2011680" cy="566928"/>
          </a:xfrm>
          <a:prstGeom prst="roundRect">
            <a:avLst/>
          </a:prstGeom>
          <a:solidFill>
            <a:srgbClr val="0F1B14"/>
          </a:solidFill>
          <a:ln w="9525">
            <a:solidFill>
              <a:srgbClr val="1E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01200" y="5413248"/>
            <a:ext cx="2011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39,3%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64008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Valle del Sol · EP3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NO SOLO EL CAMINO FELIZ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Bug detectado por las pruebas (BUG-01)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1064240" cy="2377440"/>
          </a:xfrm>
          <a:prstGeom prst="roundRect">
            <a:avLst/>
          </a:prstGeom>
          <a:solidFill>
            <a:srgbClr val="0F1B14"/>
          </a:solidFill>
          <a:ln w="1587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07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FCA5A5"/>
                </a:solidFill>
                <a:latin typeface="Segoe UI"/>
              </a:rPr>
              <a:t>Síntoma: </a:t>
            </a:r>
            <a:r>
              <a:rPr sz="1500" b="0">
                <a:solidFill>
                  <a:srgbClr val="E2E8F0"/>
                </a:solidFill>
                <a:latin typeface="Segoe UI"/>
              </a:rPr>
              <a:t>el sistema aceptaba coordenadas fuera de rango (lat=200), generando un punto inválido en el mapa GIS.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FCA5A5"/>
                </a:solidFill>
                <a:latin typeface="Segoe UI"/>
              </a:rPr>
              <a:t>Causa: </a:t>
            </a:r>
            <a:r>
              <a:rPr sz="1500" b="0">
                <a:solidFill>
                  <a:srgbClr val="E2E8F0"/>
                </a:solidFill>
                <a:latin typeface="Segoe UI"/>
              </a:rPr>
              <a:t>no se validaba el rango geográfico de las coordenadas.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Corrección: </a:t>
            </a:r>
            <a:r>
              <a:rPr sz="1500" b="0">
                <a:solidFill>
                  <a:srgbClr val="E2E8F0"/>
                </a:solidFill>
                <a:latin typeface="Segoe UI"/>
              </a:rPr>
              <a:t>método validarCoordenadas() + validación @DecimalMin/@DecimalMax. Ahora responde HTTP 400 y no persiste.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FDE047"/>
                </a:solidFill>
                <a:latin typeface="Segoe UI"/>
              </a:rPr>
              <a:t>Detectado por: </a:t>
            </a:r>
            <a:r>
              <a:rPr sz="1500" b="0">
                <a:solidFill>
                  <a:srgbClr val="E2E8F0"/>
                </a:solidFill>
                <a:latin typeface="Segoe UI"/>
              </a:rPr>
              <a:t>CP-U03 · CP-U04 · CP-I02.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Otras mejoras a partir de las pruebas: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400">
                <a:solidFill>
                  <a:srgbClr val="E2E8F0"/>
                </a:solidFill>
                <a:latin typeface="Segoe UI"/>
              </a:rPr>
              <a:t>Descripción mínima de 10 caracteres (utilidad para las brigadas).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400">
                <a:solidFill>
                  <a:srgbClr val="E2E8F0"/>
                </a:solidFill>
                <a:latin typeface="Segoe UI"/>
              </a:rPr>
              <a:t>Máquina de estados que rechaza transiciones ilegales (ej. RESUELTO → PENDIENTE).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•  </a:t>
            </a:r>
            <a:r>
              <a:rPr sz="1400">
                <a:solidFill>
                  <a:srgbClr val="E2E8F0"/>
                </a:solidFill>
                <a:latin typeface="Segoe UI"/>
              </a:rPr>
              <a:t>Manejo de microservicio caído en el BFF: HTTP 503 controlado en vez de error 500.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008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Valle del Sol · EP3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EVIDENCIA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Demostración y evidencia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1064240" cy="2103120"/>
          </a:xfrm>
          <a:prstGeom prst="roundRect">
            <a:avLst/>
          </a:prstGeom>
          <a:solidFill>
            <a:srgbClr val="07120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070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$ ./Scripts/prueba-e2e.sh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[2] Reporte CRÍTICO → alertaGenerada:true · nivel:EVACUACION        PASA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[3] Reporte MEDIA   → alertaGenerada:false                          PASA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[4] Coordenada inválida (lat=200) → HTTP 400                        PASA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DE047"/>
                </a:solidFill>
                <a:latin typeface="Segoe UI"/>
              </a:rPr>
              <a:t>RESULTADO: 7 pruebas OK, 0 fallidas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1.  </a:t>
            </a:r>
            <a:r>
              <a:rPr sz="1400">
                <a:solidFill>
                  <a:srgbClr val="E2E8F0"/>
                </a:solidFill>
                <a:latin typeface="Segoe UI"/>
              </a:rPr>
              <a:t>Levantar: docker compose up -d  +  Scripts/levantar-local.sh  +  ng serve.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2.  </a:t>
            </a:r>
            <a:r>
              <a:rPr sz="1400">
                <a:solidFill>
                  <a:srgbClr val="E2E8F0"/>
                </a:solidFill>
                <a:latin typeface="Segoe UI"/>
              </a:rPr>
              <a:t>Frontend: el vecino envía un reporte crítico → recibe folio + alerta de evacuación.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3.  </a:t>
            </a:r>
            <a:r>
              <a:rPr sz="1400">
                <a:solidFill>
                  <a:srgbClr val="E2E8F0"/>
                </a:solidFill>
                <a:latin typeface="Segoe UI"/>
              </a:rPr>
              <a:t>Dashboard / Centro de Comando muestra reportes y alertas en vivo desde PostgreSQL.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4.  </a:t>
            </a:r>
            <a:r>
              <a:rPr sz="1400">
                <a:solidFill>
                  <a:srgbClr val="E2E8F0"/>
                </a:solidFill>
                <a:latin typeface="Segoe UI"/>
              </a:rPr>
              <a:t>Reporte de cobertura JaCoCo en */target/site/jacoco/index.html.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008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Valle del Sol · EP3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34D399"/>
                </a:solidFill>
                <a:latin typeface="Segoe UI"/>
              </a:rPr>
              <a:t>✓  </a:t>
            </a:r>
            <a:r>
              <a:rPr sz="1800">
                <a:solidFill>
                  <a:srgbClr val="E2E8F0"/>
                </a:solidFill>
                <a:latin typeface="Segoe UI"/>
              </a:rPr>
              <a:t>Integración real de frontend y backend con comunicación REST y persistencia en PostgreSQL.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34D399"/>
                </a:solidFill>
                <a:latin typeface="Segoe UI"/>
              </a:rPr>
              <a:t>✓  </a:t>
            </a:r>
            <a:r>
              <a:rPr sz="1800">
                <a:solidFill>
                  <a:srgbClr val="E2E8F0"/>
                </a:solidFill>
                <a:latin typeface="Segoe UI"/>
              </a:rPr>
              <a:t>El proceso de negocio crítico quedó cubierto en los tres niveles de prueba + verificación manual.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34D399"/>
                </a:solidFill>
                <a:latin typeface="Segoe UI"/>
              </a:rPr>
              <a:t>✓  </a:t>
            </a:r>
            <a:r>
              <a:rPr sz="1800">
                <a:solidFill>
                  <a:srgbClr val="E2E8F0"/>
                </a:solidFill>
                <a:latin typeface="Segoe UI"/>
              </a:rPr>
              <a:t>Las pruebas no se limitaron al camino feliz: detectaron y corrigieron el BUG-01 y endurecieron validaciones.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34D399"/>
                </a:solidFill>
                <a:latin typeface="Segoe UI"/>
              </a:rPr>
              <a:t>✓  </a:t>
            </a:r>
            <a:r>
              <a:rPr sz="1800">
                <a:solidFill>
                  <a:srgbClr val="E2E8F0"/>
                </a:solidFill>
                <a:latin typeface="Segoe UI"/>
              </a:rPr>
              <a:t>27 pruebas en verde; cobertura concentrada en la lógica de negocio (donde está el riesgo).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34D399"/>
                </a:solidFill>
                <a:latin typeface="Segoe UI"/>
              </a:rPr>
              <a:t>✓  </a:t>
            </a:r>
            <a:r>
              <a:rPr sz="1800">
                <a:solidFill>
                  <a:srgbClr val="E2E8F0"/>
                </a:solidFill>
                <a:latin typeface="Segoe UI"/>
              </a:rPr>
              <a:t>Solución ejecutable, demostrable y versionada en GitHub.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34D399"/>
                </a:solidFill>
                <a:latin typeface="Segoe UI"/>
              </a:rPr>
              <a:t>¿Preguntas?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008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Valle del Sol · EP3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